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427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7ECD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480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706B"/>
                </a:solidFill>
              </a:rPr>
              <a:t>Apollo-style pharmacy dashboard • Problem statement + KPI logic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33272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No DAX in this deck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539728" y="4389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01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96012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024128"/>
            <a:ext cx="1380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BUSINESS PROBLEM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is growing, but profitability is weakening.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" y="239572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706B"/>
                </a:solidFill>
              </a:rPr>
              <a:t>Leadership needs to identify where money is leaking across discounts, returns, COGS, stores, products, channels, and customer segments.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7ECDC">
                <a:alpha val="9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57600"/>
            <a:ext cx="73152" cy="1143000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822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B706B"/>
                </a:solidFill>
              </a:rPr>
              <a:t>Revenue Growth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841248" y="4087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+11.2%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44531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5B706B"/>
                </a:solidFill>
              </a:rPr>
              <a:t>2025 vs 2024 realized revenue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297180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7ECDC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3657600"/>
            <a:ext cx="73152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3822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B706B"/>
                </a:solidFill>
              </a:rPr>
              <a:t>GM% Dropped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172968" y="4087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32.2% → 27.6%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172968" y="4453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5B706B"/>
                </a:solidFill>
              </a:rPr>
              <a:t>Margin pressure despite growth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7ECDC">
                <a:alpha val="9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3657600"/>
            <a:ext cx="73152" cy="1143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3822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B706B"/>
                </a:solidFill>
              </a:rPr>
              <a:t>Returns Improved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5687568" y="4087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3.15% → 1.69%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87568" y="44531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5B706B"/>
                </a:solidFill>
              </a:rPr>
              <a:t>Operational gain, but not enough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8229600" y="1097280"/>
            <a:ext cx="3246120" cy="448056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C7E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1417320"/>
            <a:ext cx="2697480" cy="502920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97112" y="15636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PHARMACY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49640" y="2651760"/>
            <a:ext cx="2606040" cy="0"/>
          </a:xfrm>
          <a:prstGeom prst="line">
            <a:avLst/>
          </a:prstGeom>
          <a:noFill/>
          <a:ln w="12700">
            <a:solidFill>
              <a:srgbClr val="C7EC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68512" y="224028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1704" y="224028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54896" y="224028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48088" y="224028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0" y="224028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34472" y="224028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49640" y="3383280"/>
            <a:ext cx="2606040" cy="0"/>
          </a:xfrm>
          <a:prstGeom prst="line">
            <a:avLst/>
          </a:prstGeom>
          <a:noFill/>
          <a:ln w="12700">
            <a:solidFill>
              <a:srgbClr val="C7EC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68512" y="297180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61704" y="297180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54896" y="297180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48088" y="297180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41280" y="297180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34472" y="297180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9640" y="4114800"/>
            <a:ext cx="2606040" cy="0"/>
          </a:xfrm>
          <a:prstGeom prst="line">
            <a:avLst/>
          </a:prstGeom>
          <a:noFill/>
          <a:ln w="12700">
            <a:solidFill>
              <a:srgbClr val="C7EC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68512" y="370332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61704" y="370332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54896" y="370332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48088" y="370332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0" y="370332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34472" y="370332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E6F7F0"/>
          </a:solidFill>
          <a:ln w="12700">
            <a:solidFill>
              <a:srgbClr val="00A66A">
                <a:alpha val="8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49640" y="4846320"/>
            <a:ext cx="2606040" cy="0"/>
          </a:xfrm>
          <a:prstGeom prst="line">
            <a:avLst/>
          </a:prstGeom>
          <a:noFill/>
          <a:ln w="12700">
            <a:solidFill>
              <a:srgbClr val="C7ECD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68512" y="443484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061704" y="443484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454896" y="443484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848088" y="443484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41280" y="443484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634472" y="4434840"/>
            <a:ext cx="219456" cy="384048"/>
          </a:xfrm>
          <a:prstGeom prst="roundRect">
            <a:avLst>
              <a:gd name="adj" fmla="val 8333"/>
            </a:avLst>
          </a:prstGeom>
          <a:solidFill>
            <a:srgbClr val="DDF5EC"/>
          </a:solidFill>
          <a:ln w="12700">
            <a:solidFill>
              <a:srgbClr val="047857">
                <a:alpha val="8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54864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Analyst angle: explain the margin decline, not just sales growth.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7ECD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480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Scope: 2 Pages Only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706B"/>
                </a:solidFill>
              </a:rPr>
              <a:t>Keep the YouTube build sharp: executive profitability first, then operations and customer performance.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706B"/>
                </a:solidFill>
              </a:rPr>
              <a:t>Apollo-style pharmacy dashboard • Problem statement + KPI logic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No DAX in this deck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4389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02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C7E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1828800"/>
            <a:ext cx="5257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C7E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08483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148840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PAGE 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960120" y="2532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&amp; Profitability Command Center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857"/>
                </a:solidFill>
              </a:rPr>
              <a:t>Business questions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3401568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B33"/>
                </a:solidFill>
              </a:rPr>
              <a:t>• Are we growing profitably?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73B33"/>
                </a:solidFill>
              </a:rPr>
              <a:t>• Where is margin leaking?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73B33"/>
                </a:solidFill>
              </a:rPr>
              <a:t>• Which store, category, channel or campaign drives margin?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706B"/>
                </a:solidFill>
              </a:rPr>
              <a:t>Core visuals: KPI cards, monthly trend, waterfall, category margin, decomposition tree, India store map.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08483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2148840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</a:rPr>
              <a:t>PAGE 2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6583680" y="25328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Operations, Inventory &amp; Customer Insights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7857"/>
                </a:solidFill>
              </a:rPr>
              <a:t>Business questions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83680" y="3401568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B33"/>
                </a:solidFill>
              </a:rPr>
              <a:t>• When do sales peak?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73B33"/>
                </a:solidFill>
              </a:rPr>
              <a:t>• Which returns and stock issues hurt revenue?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73B33"/>
                </a:solidFill>
              </a:rPr>
              <a:t>• Which channels and segments are worth scaling?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583680" y="489204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706B"/>
                </a:solidFill>
              </a:rPr>
              <a:t>Core visuals: heatmap, return Pareto, stockout risk, expiry bucket, channel matrix, customer segment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7ECD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480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Sales Terminology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706B"/>
                </a:solidFill>
              </a:rPr>
              <a:t>Use these terms before building the DAX. Your YouTube explanation should define the business logic first.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706B"/>
                </a:solidFill>
              </a:rPr>
              <a:t>Apollo-style pharmacy dashboard • Problem statement + KPI logic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No DAX in this deck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4389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03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706B"/>
                </a:solidFill>
              </a:rPr>
              <a:t>Term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331720" y="16642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706B"/>
                </a:solidFill>
              </a:rPr>
              <a:t>Definition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909560" y="16642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5B706B"/>
                </a:solidFill>
              </a:rPr>
              <a:t>Business Calculation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85800" y="1920240"/>
            <a:ext cx="108356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066544"/>
            <a:ext cx="1389888" cy="493776"/>
          </a:xfrm>
          <a:prstGeom prst="roundRect">
            <a:avLst>
              <a:gd name="adj" fmla="val 7407"/>
            </a:avLst>
          </a:prstGeom>
          <a:solidFill>
            <a:srgbClr val="00A66A">
              <a:alpha val="94000"/>
            </a:srgbClr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" y="221284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Gross Sales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04872" y="2048256"/>
            <a:ext cx="5309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Total sales value before applying discount, return impact, or cost. This is the starting revenue pool.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837322" y="2048256"/>
            <a:ext cx="335904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 × Unit Selling Price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685800" y="2816352"/>
            <a:ext cx="108356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2962656"/>
            <a:ext cx="1389888" cy="493776"/>
          </a:xfrm>
          <a:prstGeom prst="roundRect">
            <a:avLst>
              <a:gd name="adj" fmla="val 740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31089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Discount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04872" y="2944368"/>
            <a:ext cx="5309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Price reduction given through campaign, channel offer, loyalty, or store-level promotion.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837322" y="2944368"/>
            <a:ext cx="335904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Sales × Discount %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85800" y="3712464"/>
            <a:ext cx="108356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3858768"/>
            <a:ext cx="1389888" cy="493776"/>
          </a:xfrm>
          <a:prstGeom prst="roundRect">
            <a:avLst>
              <a:gd name="adj" fmla="val 7407"/>
            </a:avLst>
          </a:prstGeom>
          <a:solidFill>
            <a:srgbClr val="047857">
              <a:alpha val="94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400507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 Sales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04872" y="3840480"/>
            <a:ext cx="5309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Sales value after discount but before removing returns. This shows actual billed value.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37322" y="3840480"/>
            <a:ext cx="335904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Sales − Discount Amount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685800" y="4608576"/>
            <a:ext cx="108356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" y="4754880"/>
            <a:ext cx="1389888" cy="493776"/>
          </a:xfrm>
          <a:prstGeom prst="roundRect">
            <a:avLst>
              <a:gd name="adj" fmla="val 7407"/>
            </a:avLst>
          </a:prstGeom>
          <a:solidFill>
            <a:srgbClr val="EF4444">
              <a:alpha val="94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" y="490118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Amount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04872" y="4736592"/>
            <a:ext cx="5309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Revenue reversal caused by cancelled, damaged, expired, or customer-returned products.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7837322" y="4736592"/>
            <a:ext cx="335904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Qty × Unit Selling Price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685800" y="5504688"/>
            <a:ext cx="108356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5528" y="5650992"/>
            <a:ext cx="1389888" cy="493776"/>
          </a:xfrm>
          <a:prstGeom prst="roundRect">
            <a:avLst>
              <a:gd name="adj" fmla="val 7407"/>
            </a:avLst>
          </a:prstGeom>
          <a:solidFill>
            <a:srgbClr val="00A66A">
              <a:alpha val="94000"/>
            </a:srgbClr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" y="579729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Realized Revenue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404872" y="5632704"/>
            <a:ext cx="5309464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Final revenue retained by the business after discount and return impact.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7837322" y="5632704"/>
            <a:ext cx="3359048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Sales − Return Amount</a:t>
            </a:r>
            <a:endParaRPr lang="en-US" sz="9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7ECD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480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Profitability Terminology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706B"/>
                </a:solidFill>
              </a:rPr>
              <a:t>Sales alone is vanity. Margin tells whether the business actually made money.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706B"/>
                </a:solidFill>
              </a:rPr>
              <a:t>Apollo-style pharmacy dashboard • Problem statement + KPI logic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No DAX in this deck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4389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04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1883664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12343B">
              <a:alpha val="94000"/>
            </a:srgbClr>
          </a:solidFill>
          <a:ln w="12700">
            <a:solidFill>
              <a:srgbClr val="1234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2996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04872" y="1865376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Cost of Goods Sold: the purchase or inventory cost of products sold to customers.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837322" y="1865376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 Sold × Unit Cost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685800" y="2706624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2852928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00A66A">
              <a:alpha val="94000"/>
            </a:srgbClr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299923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Gross Margin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04872" y="2834640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Money left after paying product cost. This is the core profit pool before operating expenses.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837322" y="2834640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Realized Revenue − COGS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85800" y="3675888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3822192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047857">
              <a:alpha val="94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96849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GM%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04872" y="3803904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Profitability ratio. It shows how much revenue remains as gross profit after cost.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837322" y="3803904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Margin ÷ Realized Revenue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85800" y="4645152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" y="4791456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49377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AOV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404872" y="4773168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Average Order Value. Useful for comparing basket size across store, channel, and segment.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837322" y="4773168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Realized Revenue ÷ Orders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85800" y="5614416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" y="5760720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00A66A">
              <a:alpha val="94000"/>
            </a:srgbClr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" y="590702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04872" y="5742432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Distinct customer transactions. Use this to separate revenue growth from transaction growth.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37322" y="5742432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Transaction IDs</a:t>
            </a:r>
            <a:endParaRPr lang="en-US" sz="9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7ECD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480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&amp; Inventory Terminology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706B"/>
                </a:solidFill>
              </a:rPr>
              <a:t>These KPIs explain service quality, stock risk, and customer experience behind the revenue numbers.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706B"/>
                </a:solidFill>
              </a:rPr>
              <a:t>Apollo-style pharmacy dashboard • Problem statement + KPI logic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No DAX in this deck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4389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05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1737360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1883664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EF4444">
              <a:alpha val="94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02996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 Rate 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04872" y="1865376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Share of net sales lost due to returns. High return rate means revenue quality is weak.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837322" y="1865376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Amount ÷ Net Sales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685800" y="2706624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2852928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F97316">
              <a:alpha val="94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299923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Stockout Rate 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404872" y="2834640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Percentage of product lines where stock availability is zero or stockout flag is active.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7837322" y="2834640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Stockout Lines ÷ Total Lines</a:t>
            </a:r>
            <a:endParaRPr lang="en-US" sz="910" dirty="0"/>
          </a:p>
        </p:txBody>
      </p:sp>
      <p:sp>
        <p:nvSpPr>
          <p:cNvPr id="20" name="Shape 18"/>
          <p:cNvSpPr/>
          <p:nvPr/>
        </p:nvSpPr>
        <p:spPr>
          <a:xfrm>
            <a:off x="685800" y="3675888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" y="3822192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FACC15">
              <a:alpha val="94000"/>
            </a:srgbClr>
          </a:solidFill>
          <a:ln w="12700">
            <a:solidFill>
              <a:srgbClr val="FACC1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96849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Stock Rate 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04872" y="3803904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Percentage of products where current stock is below reorder level.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837322" y="3803904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Stock Lines ÷ Total Lines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85800" y="4645152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" y="4791456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047857">
              <a:alpha val="94000"/>
            </a:srgbClr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493776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Avg SLA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404872" y="4773168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Average fulfillment time taken to serve or deliver an order.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7837322" y="4773168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Fulfillment Minutes ÷ Orders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685800" y="5614416"/>
            <a:ext cx="108356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EC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" y="5760720"/>
            <a:ext cx="1389888" cy="530352"/>
          </a:xfrm>
          <a:prstGeom prst="roundRect">
            <a:avLst>
              <a:gd name="adj" fmla="val 6897"/>
            </a:avLst>
          </a:prstGeom>
          <a:solidFill>
            <a:srgbClr val="00A66A">
              <a:alpha val="94000"/>
            </a:srgbClr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5256" y="590702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Avg Rating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04872" y="5742432"/>
            <a:ext cx="53094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173B33"/>
                </a:solidFill>
              </a:rPr>
              <a:t>Customer satisfaction score. Use it with channel and store to find service issues.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37322" y="5742432"/>
            <a:ext cx="33590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Customer Rating</a:t>
            </a:r>
            <a:endParaRPr lang="en-US" sz="9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6A"/>
          </a:solidFill>
          <a:ln w="12700">
            <a:solidFill>
              <a:srgbClr val="00A6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7ECD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4480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Rx BI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8778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73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Logic Flow for the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76072" y="1298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706B"/>
                </a:solidFill>
              </a:rPr>
              <a:t>This is the calculation story your audience should understand before seeing the Power BI build.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65653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706B"/>
                </a:solidFill>
              </a:rPr>
              <a:t>Apollo-style pharmacy dashboard • Problem statement + KPI logic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No DAX in this deck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539728" y="4389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706B"/>
                </a:solidFill>
              </a:rPr>
              <a:t>06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858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0A66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0A66A"/>
                </a:solidFill>
              </a:rPr>
              <a:t>Gross Sales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7955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Starting sales pool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2860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97316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97316"/>
                </a:solidFill>
              </a:rPr>
              <a:t>− Discount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23957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Promotion leakage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8862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47857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959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47857"/>
                </a:solidFill>
              </a:rPr>
              <a:t>= Net Sales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39959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Billed value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4864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4444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EF4444"/>
                </a:solidFill>
              </a:rPr>
              <a:t>− Returns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55961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Revenue reversal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0866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0A66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963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0A66A"/>
                </a:solidFill>
              </a:rPr>
              <a:t>= Realized Revenue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71963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Final retained revenue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6868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2343B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12343B"/>
                </a:solidFill>
              </a:rPr>
              <a:t>− COGS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87965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Product cost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0287000" y="20574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047857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96728" y="2221992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047857"/>
                </a:solidFill>
              </a:rPr>
              <a:t>= Gross Margin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10396728" y="2624328"/>
            <a:ext cx="1289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706B"/>
                </a:solidFill>
              </a:rPr>
              <a:t>Profit pool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960120" y="3977640"/>
            <a:ext cx="101498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C7E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4178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047857"/>
                </a:solidFill>
              </a:rPr>
              <a:t>Final dashboard narrative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3429000" y="414223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B33"/>
                </a:solidFill>
              </a:rPr>
              <a:t>Revenue increased, but gross margin percentage dropped. The dashboard will investigate whether the issue came from COGS, discounting, product mix, store mix, channel mix, returns, or inventory/service problems.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960120" y="5596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</a:rPr>
              <a:t>Next Power BI step: create dimension tables from the fact table, then build relationships and KPI measures.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Widescreen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Apollo-Style Pharmacy Analytics Dashboard</dc:title>
  <dc:subject>Apollo-style Pharmacy Dashboard Problem Statements and KPI Terminology</dc:subject>
  <dc:creator>OpenAI</dc:creator>
  <cp:lastModifiedBy>basil</cp:lastModifiedBy>
  <cp:revision>1</cp:revision>
  <dcterms:created xsi:type="dcterms:W3CDTF">2026-07-09T13:58:41Z</dcterms:created>
  <dcterms:modified xsi:type="dcterms:W3CDTF">2026-07-09T14:01:19Z</dcterms:modified>
</cp:coreProperties>
</file>